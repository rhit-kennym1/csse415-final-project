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Welcome the class with energy. The hook is on the next slide. Make sure all three of you are ready to own your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— first 30 seconds, engage the room. Ask the question, wait for hands. Say: that hesitation is the instinct we tried to teach a machine. Eye contact, speak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rubric out loud: WHAT (fake sites stealing credentials), WHY we care (huge losses — mention the FBI IC3 / BEC ~$2.9B figure and the ~$100M Google &amp; Facebook invoice scam), WHY it's hard (fast-changing, look real, rules don't scale), and our angle: let ML learn the subtle signals instead of hard-coded rules. Erwin: tell your personal phishing-scandal story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data: UCI/UIUC phishing set, 11,055 sites, 30 features, binary label, already clean. Classes reasonably balanced (donut) so accuracy is a fair starting metric. We ran the same pipeline on 2 more datasets to confirm it generalizes.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intuitive features so the audience builds a mental model: URL length, HTTPS/SSL, suspicious symbols (@, //, -, raw IP), domain age, redirects, iframes/pop-ups. Tie back to the hook — these are the cues a careful human looks for; we measure all 30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pipeline so it's clear exactly what we did: clean/verify, encode, 80/20 stratified split (random_state 42), scale only for distance/margin models, feature engineering with pairwise interactions (up to 495 features, Lasso pruned to 320), consistent protocol across all 8 models and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tested 8 classifiers from class: Logistic Regression, Decision Tree, kNN, Ridge, Random Forest, Gradient Boosting, SVM, XGBoost. The chart shows best accuracy per family vs the 55.7% majority baseline. Everything clears it easily; the green bars (SVM, XGBoost, RF, Gradient Boosting) are our strongest.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WHY these win. Gradient Boosting (97.7%) is best overall with ~98.8% phishing recall. Random Forest (97.5%) is essentially tied and very robust — it captures interactions natively, which is why hand-made interaction features barely helped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SVM (97.4%) had the HIGHEST phishing recall (~99%) — call this out, because missing a phishing site is the costly error. XGBoost (97.4%) matches RF/SVM. The top four are within ~0.3% of each other; pick on recall + interpretability.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in detail (rubric wants tables/graphs). Left: confusion matrix of the best model (Gradient Boosting) — only 15 phishing sites missed out of 1,231. Middle: accuracy vs phishing recall for the top four. Right: the headline numbers. Stress recall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Random Forest importances from our data. SSL final state (0.33) and URL-of-anchor (0.24) together are ~57% of importance — is the certificate legit, and where do the page's links actually point. Matches security intuition. The report also flagged useful interactions (SSL×RightClick, anchor×Iframe).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— make it interactive. Put the printed QR on the board, give the class 2-3 links and let THEM guess before we run it. Suggested order (from DEMO.txt): wikipedia.org (legit), Google's Safe-Browsing test page (flagged), then http://192.168.1.1@bit.ly/freegift?login=admin (many URL red flags at once). &gt;&gt;&gt; Send the Firebase URL to embed the real QR. &lt;&lt;&lt;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evaluation. Worked: ensembles + SVM, feature engineering for linear models, high recall, reproducibility. Didn't: PCA wasn't needed (models already fast; it hurt interpretability), Lasso pruned features without raising accuracy, interaction features barely helped trees. PCA was an experiment, not a final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obstacles + what we learned. 1) Interaction features blew up to 495 → Lasso/regularization to prune and keep it interpretable. 2) Dataset 2 too large for SVM/boosting to fully tune → dimensionality limits / PCA, deliberate compute budget. 3) Realizing accuracy isn't the target → we now evaluate with recall + confusion matrices. Each of us can take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work, focused on doing MORE with the data and models given more time: fuller hyperparameter searches we skipped on the large datasets, deeper feature-interaction engineering/selection, proper cross-dataset train/test, stacking our best models, adding SHAP explainability, and error analysis on the misclassified sites to understand where the models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up: classic ML solves this well (~97.7% accuracy, ~98.8% phishing recall). Winners: ensembles + SVM. SSL state &amp; link behavior dominate. PCA wasn't needed; recall is the key metric. Thank the class and invite questions — handle them calmly and positively.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ECEFF4"/>
                </a:solidFill>
                <a:latin typeface="Segoe UI"/>
              </a:rPr>
              <a:t>Phishing Website Detection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6BC"/>
                </a:solidFill>
                <a:latin typeface="Segoe UI"/>
              </a:rPr>
              <a:t>Telling phishing sites from legitimate ones with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77824" y="4114800"/>
            <a:ext cx="23774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CEFF4"/>
                </a:solidFill>
                <a:latin typeface="Segoe UI"/>
              </a:rPr>
              <a:t>Erwin Perkowski   ·   Mark Joseph Kenny   ·   Sanil Maheshwari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9AA6BC"/>
                </a:solidFill>
                <a:latin typeface="Segoe UI"/>
              </a:rPr>
              <a:t>CSSE 415 — Machine Learning ·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200"/>
              </a:spcAft>
            </a:pPr>
            <a:r>
              <a:rPr sz="4000" b="1" i="0">
                <a:solidFill>
                  <a:srgbClr val="ECEFF4"/>
                </a:solidFill>
                <a:latin typeface="Segoe UI"/>
              </a:rPr>
              <a:t>Ever been scared to click a link?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9AA6BC"/>
                </a:solidFill>
                <a:latin typeface="Segoe UI"/>
              </a:rPr>
              <a:t>Raise your hand if you've ever hesitated.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Why Phishing?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•   Fake sites built to steal logins, money, and data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•   They appear and disappear within hours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•   Many look identical to the real thing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•   Block-lists and fixed rules can't keep up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•   The #1 entry point for breaches — billions lost each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The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85216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UCI / UIUC phishing dataset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11,055 sites · 30 features · binary label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Values encoded as −1 / 0 / +1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Clean, research-grade — no missing values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Also re-checked on 2 more datasets</a:t>
            </a:r>
          </a:p>
        </p:txBody>
      </p:sp>
      <p:pic>
        <p:nvPicPr>
          <p:cNvPr id="5" name="Picture 4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5720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What Makes a URL Look Phishy?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548640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400" b="0" i="0">
                <a:solidFill>
                  <a:srgbClr val="ECEFF4"/>
                </a:solidFill>
                <a:latin typeface="Segoe UI"/>
              </a:rPr>
              <a:t>🔗  URL length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400" b="0" i="0">
                <a:solidFill>
                  <a:srgbClr val="ECEFF4"/>
                </a:solidFill>
                <a:latin typeface="Segoe UI"/>
              </a:rPr>
              <a:t>🔒  HTTPS / SSL state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400" b="0" i="0">
                <a:solidFill>
                  <a:srgbClr val="ECEFF4"/>
                </a:solidFill>
                <a:latin typeface="Segoe UI"/>
              </a:rPr>
              <a:t>⚠️  Suspicious symbols ( @  //  -  IP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12064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400" b="0" i="0">
                <a:solidFill>
                  <a:srgbClr val="ECEFF4"/>
                </a:solidFill>
                <a:latin typeface="Segoe UI"/>
              </a:rPr>
              <a:t>⏳  Domain age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400" b="0" i="0">
                <a:solidFill>
                  <a:srgbClr val="ECEFF4"/>
                </a:solidFill>
                <a:latin typeface="Segoe UI"/>
              </a:rPr>
              <a:t>↪  Redirects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400" b="0" i="0">
                <a:solidFill>
                  <a:srgbClr val="ECEFF4"/>
                </a:solidFill>
                <a:latin typeface="Segoe UI"/>
              </a:rPr>
              <a:t>🪟  iframes &amp; pop-ups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1.   Clean &amp; verify the data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2.   Encode features and label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3.   80 / 20 stratified train-test split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4.   Scale where it matters (kNN, SVM, LogReg)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5.   Feature engineering — pairwise interactions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6.   Same protocol across all models &amp; datasets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Models We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9AA6BC"/>
                </a:solidFill>
                <a:latin typeface="Segoe UI"/>
              </a:rPr>
              <a:t>8 classifiers — every one beats the 55.7% baseline</a:t>
            </a:r>
          </a:p>
        </p:txBody>
      </p:sp>
      <p:pic>
        <p:nvPicPr>
          <p:cNvPr id="5" name="Picture 4" descr="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965960"/>
            <a:ext cx="9235440" cy="45197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Strongest Models  (1 /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5120640" cy="3931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1" i="0">
                <a:solidFill>
                  <a:srgbClr val="ECEFF4"/>
                </a:solidFill>
                <a:latin typeface="Segoe UI"/>
              </a:rPr>
              <a:t>Gradient Boosting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97.7% accuracy — best overall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98.8% phishing recall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Few phishing sites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120640" cy="3931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1" i="0">
                <a:solidFill>
                  <a:srgbClr val="ECEFF4"/>
                </a:solidFill>
                <a:latin typeface="Segoe UI"/>
              </a:rPr>
              <a:t>Random Forest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97.5% accuracy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Captures interactions natively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Top tells: SSL state &amp; anchor 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Strongest Models  (2 /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5120640" cy="3931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1" i="0">
                <a:solidFill>
                  <a:srgbClr val="ECEFF4"/>
                </a:solidFill>
                <a:latin typeface="Segoe UI"/>
              </a:rPr>
              <a:t>SVM (RBF)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97.4% accuracy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Highest phishing recall — 99%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Recall matters most to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120640" cy="3931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600" b="1" i="0">
                <a:solidFill>
                  <a:srgbClr val="ECEFF4"/>
                </a:solidFill>
                <a:latin typeface="Segoe UI"/>
              </a:rPr>
              <a:t>XGBoost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97.4% accuracy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Regularized gradient boosting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On par with RF and SVM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Results — Best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4206240" cy="3785616"/>
          </a:xfrm>
          <a:prstGeom prst="rect">
            <a:avLst/>
          </a:prstGeom>
        </p:spPr>
      </p:pic>
      <p:pic>
        <p:nvPicPr>
          <p:cNvPr id="5" name="Picture 4" descr="top4_acc_rec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83080"/>
            <a:ext cx="3840480" cy="2273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52560" y="2286000"/>
            <a:ext cx="27432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ECEFF4"/>
                </a:solidFill>
                <a:latin typeface="Segoe UI"/>
              </a:rPr>
              <a:t>•   97.7% accuracy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ECEFF4"/>
                </a:solidFill>
                <a:latin typeface="Segoe UI"/>
              </a:rPr>
              <a:t>•   98.8% phishing recall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ECEFF4"/>
                </a:solidFill>
                <a:latin typeface="Segoe UI"/>
              </a:rPr>
              <a:t>•   15 of 1,231 phishing missed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ECEFF4"/>
                </a:solidFill>
                <a:latin typeface="Segoe UI"/>
              </a:rPr>
              <a:t>•   ~40 pts above baseline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What Drives the Prediction?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040880" cy="38662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2286000"/>
            <a:ext cx="3657600" cy="3474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800" b="0" i="0">
                <a:solidFill>
                  <a:srgbClr val="ECEFF4"/>
                </a:solidFill>
                <a:latin typeface="Segoe UI"/>
              </a:rPr>
              <a:t>•   SSL state + anchor links ≈ 57% of importance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800" b="0" i="0">
                <a:solidFill>
                  <a:srgbClr val="ECEFF4"/>
                </a:solidFill>
                <a:latin typeface="Segoe UI"/>
              </a:rPr>
              <a:t>•   Matches intuition: fake certs, deceptive links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800" b="0" i="0">
                <a:solidFill>
                  <a:srgbClr val="ECEFF4"/>
                </a:solidFill>
                <a:latin typeface="Segoe UI"/>
              </a:rPr>
              <a:t>•   Interactions add extra signal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011680"/>
            <a:ext cx="310896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0352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9AA6BC"/>
                </a:solidFill>
                <a:latin typeface="Segoe UI"/>
              </a:rPr>
              <a:t>QR — Firebase link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286000"/>
            <a:ext cx="64008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1.   You pick a URL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2.   We extract 30 features live (+ Safe Browsing)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3.   The models vote: phishing or legitimate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4.   We show the verdict and the signals behind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What Worked &amp; What Didn't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51206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1" i="0">
                <a:solidFill>
                  <a:srgbClr val="ECEFF4"/>
                </a:solidFill>
                <a:latin typeface="Segoe UI"/>
              </a:rPr>
              <a:t>Worked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Ensembles + SVM all hit ~97–98%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Feature engineering lifted linear models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High phishing recall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Held up across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1206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1" i="0">
                <a:solidFill>
                  <a:srgbClr val="ECEFF4"/>
                </a:solidFill>
                <a:latin typeface="Segoe UI"/>
              </a:rPr>
              <a:t>Didn't help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PCA — models already fast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Lasso pruning — no accuracy gain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Interactions barely moved trees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Simple rules alone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Obstacles &amp; Lessons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5156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•   Feature explosion (495) → used Lasso to prune &amp; stay interpretable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•   Big datasets slow to tune → limited dimensions, budgeted compute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2200" b="0" i="0">
                <a:solidFill>
                  <a:srgbClr val="ECEFF4"/>
                </a:solidFill>
                <a:latin typeface="Segoe UI"/>
              </a:rPr>
              <a:t>•   Accuracy isn't enough → focused on recall + confusion matrices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60704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Deeper hyperparameter search we had to skip on the big datasets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More thorough feature-interaction engineering and selection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Proper cross-dataset training and testing for generalization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Stack / ensemble our strongest models together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Add explainability (e.g. SHAP) to see why a site is flagged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000" b="0" i="0">
                <a:solidFill>
                  <a:srgbClr val="ECEFF4"/>
                </a:solidFill>
                <a:latin typeface="Segoe UI"/>
              </a:rPr>
              <a:t>•   Error analysis on misclassified sites to find weak spots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CEFF4"/>
                </a:solidFill>
                <a:latin typeface="Segoe U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94944" y="1207008"/>
            <a:ext cx="15544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60704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100" b="0" i="0">
                <a:solidFill>
                  <a:srgbClr val="ECEFF4"/>
                </a:solidFill>
                <a:latin typeface="Segoe UI"/>
              </a:rPr>
              <a:t>•   Classic ML detects phishing well — 97.7% accuracy, 98.8% recall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100" b="0" i="0">
                <a:solidFill>
                  <a:srgbClr val="ECEFF4"/>
                </a:solidFill>
                <a:latin typeface="Segoe UI"/>
              </a:rPr>
              <a:t>•   Ensembles (GB / RF / XGB) and SVM win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100" b="0" i="0">
                <a:solidFill>
                  <a:srgbClr val="ECEFF4"/>
                </a:solidFill>
                <a:latin typeface="Segoe UI"/>
              </a:rPr>
              <a:t>•   SSL state and link behavior are the biggest tells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100" b="0" i="0">
                <a:solidFill>
                  <a:srgbClr val="ECEFF4"/>
                </a:solidFill>
                <a:latin typeface="Segoe UI"/>
              </a:rPr>
              <a:t>•   PCA unnecessary; recall matters most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2100" b="0" i="0">
                <a:solidFill>
                  <a:srgbClr val="ECEFF4"/>
                </a:solidFill>
                <a:latin typeface="Segoe UI"/>
              </a:rPr>
              <a:t>•   Beats the majority baseline by ~40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9AA6BC"/>
                </a:solidFill>
                <a:latin typeface="Segoe U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